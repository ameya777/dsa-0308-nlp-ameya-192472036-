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3" r:id="rId5"/>
    <p:sldId id="267" r:id="rId6"/>
    <p:sldId id="268" r:id="rId7"/>
    <p:sldId id="264" r:id="rId8"/>
    <p:sldId id="265" r:id="rId9"/>
    <p:sldId id="266" r:id="rId10"/>
    <p:sldId id="269" r:id="rId11"/>
    <p:sldId id="261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335705"/>
            <a:ext cx="9860280" cy="1299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2180" y="1717522"/>
            <a:ext cx="9300845" cy="2289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95400" y="2057400"/>
            <a:ext cx="105156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Morphological Analysis for Indian</a:t>
            </a:r>
            <a:b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Languages</a:t>
            </a:r>
            <a:endParaRPr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1600" y="4495800"/>
            <a:ext cx="2209800" cy="1850507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" algn="l">
              <a:lnSpc>
                <a:spcPct val="100000"/>
              </a:lnSpc>
              <a:spcBef>
                <a:spcPts val="81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G.PALLAVI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l">
              <a:lnSpc>
                <a:spcPct val="100000"/>
              </a:lnSpc>
              <a:spcBef>
                <a:spcPts val="71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192472203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71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AV.AMEYA</a:t>
            </a:r>
          </a:p>
          <a:p>
            <a:pPr algn="l">
              <a:lnSpc>
                <a:spcPct val="100000"/>
              </a:lnSpc>
              <a:spcBef>
                <a:spcPts val="71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192472036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6D1A7-54B7-CE8B-838B-5CE5BE9932A2}"/>
              </a:ext>
            </a:extLst>
          </p:cNvPr>
          <p:cNvSpPr txBox="1"/>
          <p:nvPr/>
        </p:nvSpPr>
        <p:spPr>
          <a:xfrm>
            <a:off x="1752600" y="1524000"/>
            <a:ext cx="777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</a:t>
            </a:r>
            <a:r>
              <a:rPr lang="en-IN" sz="2000" b="1" dirty="0"/>
              <a:t>NATURAL LANGUAGE PROCESSING –DSA0308</a:t>
            </a:r>
          </a:p>
        </p:txBody>
      </p:sp>
      <p:pic>
        <p:nvPicPr>
          <p:cNvPr id="8" name="Picture 7" descr="image.jpg">
            <a:extLst>
              <a:ext uri="{FF2B5EF4-FFF2-40B4-BE49-F238E27FC236}">
                <a16:creationId xmlns:a16="http://schemas.microsoft.com/office/drawing/2014/main" id="{E506889E-F103-8706-8EBA-1D7235AB6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1" y="152401"/>
            <a:ext cx="11658850" cy="1276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675796-D811-BE45-60B1-8AF32BEF2C0B}"/>
              </a:ext>
            </a:extLst>
          </p:cNvPr>
          <p:cNvSpPr txBox="1"/>
          <p:nvPr/>
        </p:nvSpPr>
        <p:spPr>
          <a:xfrm>
            <a:off x="609600" y="2590800"/>
            <a:ext cx="11049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/>
              <a:t>Morphological processing is an important part of Natural Language Processing (NLP).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It studies the internal structure and formation of words.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It identifies root words, prefixes, suffixes, and grammatical features.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Indian languages such as Tamil, Hindi, and Telugu have complex word-formation rules.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A single root word can produce many forms by adding suffixes.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Morphological processing helps computers understand tense, gender, number, and case.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D760D-DB12-E1FD-27CE-1B799A243A80}"/>
              </a:ext>
            </a:extLst>
          </p:cNvPr>
          <p:cNvSpPr txBox="1"/>
          <p:nvPr/>
        </p:nvSpPr>
        <p:spPr>
          <a:xfrm>
            <a:off x="3886200" y="1676400"/>
            <a:ext cx="38481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.jpg">
            <a:extLst>
              <a:ext uri="{FF2B5EF4-FFF2-40B4-BE49-F238E27FC236}">
                <a16:creationId xmlns:a16="http://schemas.microsoft.com/office/drawing/2014/main" id="{A4830FCE-C20A-8648-C136-6C74B5877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0" y="365125"/>
            <a:ext cx="11963649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399" y="1178359"/>
            <a:ext cx="6172201" cy="76687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A38F7-D2A9-C4D6-2620-276192141273}"/>
              </a:ext>
            </a:extLst>
          </p:cNvPr>
          <p:cNvSpPr txBox="1"/>
          <p:nvPr/>
        </p:nvSpPr>
        <p:spPr>
          <a:xfrm>
            <a:off x="457200" y="2133600"/>
            <a:ext cx="12192000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Morpheme: </a:t>
            </a:r>
            <a:r>
              <a:rPr lang="en-IN" sz="2000" dirty="0"/>
              <a:t>The smallest meaningful part of a word.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Root Word: </a:t>
            </a:r>
            <a:r>
              <a:rPr lang="en-IN" sz="2000" dirty="0"/>
              <a:t>The main part of a word that carries its basic meaning.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Prefix: </a:t>
            </a:r>
            <a:r>
              <a:rPr lang="en-IN" sz="2000" dirty="0"/>
              <a:t>A part added before a root word.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Suffix: </a:t>
            </a:r>
            <a:r>
              <a:rPr lang="en-IN" sz="2000" dirty="0"/>
              <a:t>A part added after a root word to change its meaning or grammar.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Inflection: </a:t>
            </a:r>
            <a:r>
              <a:rPr lang="en-IN" sz="2000" dirty="0"/>
              <a:t>Changing a word form to show tense, number, gender, or case</a:t>
            </a:r>
          </a:p>
          <a:p>
            <a:pPr lvl="0"/>
            <a:endParaRPr lang="en-IN" sz="2000" dirty="0"/>
          </a:p>
          <a:p>
            <a:pPr lvl="0"/>
            <a:r>
              <a:rPr lang="en-US" sz="2000" b="1" dirty="0"/>
              <a:t>Examples:</a:t>
            </a:r>
          </a:p>
          <a:p>
            <a:pPr lvl="0"/>
            <a:r>
              <a:rPr lang="en-US" sz="2000" dirty="0"/>
              <a:t>Unhappy = Un + Happy</a:t>
            </a:r>
          </a:p>
          <a:p>
            <a:pPr lvl="0"/>
            <a:r>
              <a:rPr lang="en-US" sz="2000" dirty="0"/>
              <a:t>Playing = Play + </a:t>
            </a:r>
            <a:r>
              <a:rPr lang="en-US" sz="2000" dirty="0" err="1"/>
              <a:t>ing</a:t>
            </a:r>
            <a:endParaRPr lang="en-US" sz="2000" dirty="0"/>
          </a:p>
          <a:p>
            <a:pPr lvl="0"/>
            <a:r>
              <a:rPr lang="en-US" sz="2000" dirty="0"/>
              <a:t>Cats = Cat + s</a:t>
            </a:r>
            <a:r>
              <a:rPr lang="en-IN" sz="2000" dirty="0"/>
              <a:t>.</a:t>
            </a:r>
          </a:p>
          <a:p>
            <a:pPr>
              <a:lnSpc>
                <a:spcPct val="2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image.jpg">
            <a:extLst>
              <a:ext uri="{FF2B5EF4-FFF2-40B4-BE49-F238E27FC236}">
                <a16:creationId xmlns:a16="http://schemas.microsoft.com/office/drawing/2014/main" id="{4A178AB5-1018-A92E-3EC5-9FA315E58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99" y="145625"/>
            <a:ext cx="11800002" cy="10807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4136-5C49-91AB-7302-64C40231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DE577-7E07-44CC-0AD4-8B3706A72B55}"/>
              </a:ext>
            </a:extLst>
          </p:cNvPr>
          <p:cNvSpPr txBox="1"/>
          <p:nvPr/>
        </p:nvSpPr>
        <p:spPr>
          <a:xfrm>
            <a:off x="1828800" y="12954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3. Language-specific challenges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1D4AD3-BF1B-47B3-6514-D590A10B3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412245"/>
              </p:ext>
            </p:extLst>
          </p:nvPr>
        </p:nvGraphicFramePr>
        <p:xfrm>
          <a:off x="990600" y="2209800"/>
          <a:ext cx="9282114" cy="358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1338">
                  <a:extLst>
                    <a:ext uri="{9D8B030D-6E8A-4147-A177-3AD203B41FA5}">
                      <a16:colId xmlns:a16="http://schemas.microsoft.com/office/drawing/2014/main" val="2300675210"/>
                    </a:ext>
                  </a:extLst>
                </a:gridCol>
                <a:gridCol w="3100388">
                  <a:extLst>
                    <a:ext uri="{9D8B030D-6E8A-4147-A177-3AD203B41FA5}">
                      <a16:colId xmlns:a16="http://schemas.microsoft.com/office/drawing/2014/main" val="850729505"/>
                    </a:ext>
                  </a:extLst>
                </a:gridCol>
                <a:gridCol w="3100388">
                  <a:extLst>
                    <a:ext uri="{9D8B030D-6E8A-4147-A177-3AD203B41FA5}">
                      <a16:colId xmlns:a16="http://schemas.microsoft.com/office/drawing/2014/main" val="3855807400"/>
                    </a:ext>
                  </a:extLst>
                </a:gridCol>
              </a:tblGrid>
              <a:tr h="57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Major 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Possible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889920"/>
                  </a:ext>
                </a:extLst>
              </a:tr>
              <a:tr h="100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Tamil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Complex suffix combinations and stem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Suffix analysis and language-specific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749738"/>
                  </a:ext>
                </a:extLst>
              </a:tr>
              <a:tr h="100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Gender, number, case, and agreement variations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Grammar rules and contextual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19381"/>
                  </a:ext>
                </a:extLst>
              </a:tr>
              <a:tr h="100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Telugu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suffix sequences and agglutination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Root extraction and morphological segmentation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528531"/>
                  </a:ext>
                </a:extLst>
              </a:tr>
            </a:tbl>
          </a:graphicData>
        </a:graphic>
      </p:graphicFrame>
      <p:pic>
        <p:nvPicPr>
          <p:cNvPr id="9" name="Picture 8" descr="image.jpg">
            <a:extLst>
              <a:ext uri="{FF2B5EF4-FFF2-40B4-BE49-F238E27FC236}">
                <a16:creationId xmlns:a16="http://schemas.microsoft.com/office/drawing/2014/main" id="{4207B21E-CB2A-F283-0089-74A70D7C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8108"/>
            <a:ext cx="11723801" cy="10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3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3225-E2AF-1879-88D4-585A0687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81F29F-62FC-2858-3994-8E425295C761}"/>
              </a:ext>
            </a:extLst>
          </p:cNvPr>
          <p:cNvSpPr txBox="1"/>
          <p:nvPr/>
        </p:nvSpPr>
        <p:spPr>
          <a:xfrm>
            <a:off x="2209800" y="1557277"/>
            <a:ext cx="693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Common techniques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FD0B3-B110-A42D-CF27-68F24F04480A}"/>
              </a:ext>
            </a:extLst>
          </p:cNvPr>
          <p:cNvSpPr txBox="1"/>
          <p:nvPr/>
        </p:nvSpPr>
        <p:spPr>
          <a:xfrm>
            <a:off x="762000" y="2438400"/>
            <a:ext cx="11201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Rule-based approach</a:t>
            </a:r>
            <a:r>
              <a:rPr lang="en-IN" sz="2000" dirty="0"/>
              <a:t>: Uses predefined grammar and word-formation rules.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Statistical approach: </a:t>
            </a:r>
            <a:r>
              <a:rPr lang="en-IN" sz="2000" dirty="0"/>
              <a:t>Learns word patterns from annotated language data.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Machine learning: </a:t>
            </a:r>
            <a:r>
              <a:rPr lang="en-IN" sz="2000" dirty="0"/>
              <a:t>Uses trained models to predict roots and grammatical features.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Deep learning: </a:t>
            </a:r>
            <a:r>
              <a:rPr lang="en-IN" sz="2000" dirty="0"/>
              <a:t>Uses neural networks and transformer models to understand context.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Hybrid approach: </a:t>
            </a:r>
            <a:r>
              <a:rPr lang="en-IN" sz="2000" dirty="0"/>
              <a:t>Combines linguistic rules with machine learning for better accuracy.</a:t>
            </a:r>
          </a:p>
        </p:txBody>
      </p:sp>
      <p:pic>
        <p:nvPicPr>
          <p:cNvPr id="6" name="Picture 5" descr="image.jpg">
            <a:extLst>
              <a:ext uri="{FF2B5EF4-FFF2-40B4-BE49-F238E27FC236}">
                <a16:creationId xmlns:a16="http://schemas.microsoft.com/office/drawing/2014/main" id="{E873FE09-9B89-1F97-19CA-EB6157493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14" y="76200"/>
            <a:ext cx="11876451" cy="10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12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B776F-8D1D-7C7F-5939-F3989400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1F177D-B2FD-3DC9-7123-8BDCAB6E0AB0}"/>
              </a:ext>
            </a:extLst>
          </p:cNvPr>
          <p:cNvSpPr txBox="1"/>
          <p:nvPr/>
        </p:nvSpPr>
        <p:spPr>
          <a:xfrm>
            <a:off x="1219200" y="381000"/>
            <a:ext cx="800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              Proposed workflow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A446C-AF06-F858-3657-C9FA605EA6F9}"/>
              </a:ext>
            </a:extLst>
          </p:cNvPr>
          <p:cNvSpPr txBox="1"/>
          <p:nvPr/>
        </p:nvSpPr>
        <p:spPr>
          <a:xfrm>
            <a:off x="1600200" y="1447800"/>
            <a:ext cx="7848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                        Input text in Tamil, Hindi, or Telugu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                                      Text normalization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                            Morphological segmentation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              Root word and grammatical feature identification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    Output: root, suffixes, tense, number, and case where applicable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22E9608-76FD-02D4-A146-7C98E86A02FA}"/>
              </a:ext>
            </a:extLst>
          </p:cNvPr>
          <p:cNvSpPr/>
          <p:nvPr/>
        </p:nvSpPr>
        <p:spPr>
          <a:xfrm>
            <a:off x="5067300" y="1919020"/>
            <a:ext cx="4572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C532A1B-F973-1B3F-1D4B-C6D108F9E775}"/>
              </a:ext>
            </a:extLst>
          </p:cNvPr>
          <p:cNvSpPr/>
          <p:nvPr/>
        </p:nvSpPr>
        <p:spPr>
          <a:xfrm>
            <a:off x="5047661" y="3024313"/>
            <a:ext cx="609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0C32E0A-C40B-3F39-6A12-D7AAF4DEE3AF}"/>
              </a:ext>
            </a:extLst>
          </p:cNvPr>
          <p:cNvSpPr/>
          <p:nvPr/>
        </p:nvSpPr>
        <p:spPr>
          <a:xfrm>
            <a:off x="5067300" y="4129606"/>
            <a:ext cx="609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DEF0B4F-DC9D-D1C3-C2B0-280E792B37BE}"/>
              </a:ext>
            </a:extLst>
          </p:cNvPr>
          <p:cNvSpPr/>
          <p:nvPr/>
        </p:nvSpPr>
        <p:spPr>
          <a:xfrm>
            <a:off x="5077512" y="4989305"/>
            <a:ext cx="609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7F4A4-4B8E-3818-B80B-A5F7574D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10FEDD-D860-F9EA-933E-882105E7C132}"/>
              </a:ext>
            </a:extLst>
          </p:cNvPr>
          <p:cNvSpPr txBox="1"/>
          <p:nvPr/>
        </p:nvSpPr>
        <p:spPr>
          <a:xfrm>
            <a:off x="3200400" y="1447799"/>
            <a:ext cx="48339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    Applications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BF012-A3EC-862E-B805-45093902FC18}"/>
              </a:ext>
            </a:extLst>
          </p:cNvPr>
          <p:cNvSpPr txBox="1"/>
          <p:nvPr/>
        </p:nvSpPr>
        <p:spPr>
          <a:xfrm>
            <a:off x="762000" y="2286000"/>
            <a:ext cx="10744200" cy="3884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/>
              <a:t>Machine translation between Indian languages.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Search engines that recognize different forms of the same word.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Spell-checking and grammar correction.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Speech recognition and voice assistants.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Sentiment analysis of social media content.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Information retrieval from regional-language documents.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.jpg">
            <a:extLst>
              <a:ext uri="{FF2B5EF4-FFF2-40B4-BE49-F238E27FC236}">
                <a16:creationId xmlns:a16="http://schemas.microsoft.com/office/drawing/2014/main" id="{67938145-2BCE-ADDB-B7EB-EB3CD9C4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0" y="152401"/>
            <a:ext cx="11876451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4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3382-F0A7-B46F-5FF8-0498AEA5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DED2B2-862E-D600-E1DF-F6A9359A0039}"/>
              </a:ext>
            </a:extLst>
          </p:cNvPr>
          <p:cNvSpPr txBox="1"/>
          <p:nvPr/>
        </p:nvSpPr>
        <p:spPr>
          <a:xfrm>
            <a:off x="2743200" y="1827252"/>
            <a:ext cx="6379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           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5C3A3-A3DA-B594-0351-842456BBBF6C}"/>
              </a:ext>
            </a:extLst>
          </p:cNvPr>
          <p:cNvSpPr txBox="1"/>
          <p:nvPr/>
        </p:nvSpPr>
        <p:spPr>
          <a:xfrm>
            <a:off x="762000" y="2895600"/>
            <a:ext cx="10515600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/>
              <a:t>Morphological processing helps computers understand word structure.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Tamil, Hindi, and Telugu have complex word-formation rules.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Grammar and spelling variations are major challenges.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Rule-based methods and machine learning help solve these problems.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It improves NLP applications such as translation, speech recognition, and text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jpg">
            <a:extLst>
              <a:ext uri="{FF2B5EF4-FFF2-40B4-BE49-F238E27FC236}">
                <a16:creationId xmlns:a16="http://schemas.microsoft.com/office/drawing/2014/main" id="{F9BCEEAD-4D35-41BD-2049-F5ECCC79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0" y="228601"/>
            <a:ext cx="11876451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1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C8E16-8199-312C-2B8B-4765E347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57361E-7B15-AECC-C395-63C3AB44F58A}"/>
              </a:ext>
            </a:extLst>
          </p:cNvPr>
          <p:cNvSpPr txBox="1"/>
          <p:nvPr/>
        </p:nvSpPr>
        <p:spPr>
          <a:xfrm>
            <a:off x="3200400" y="1524000"/>
            <a:ext cx="4757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2CAD4-30DD-72B7-37A4-F6BE0B9BBF8C}"/>
              </a:ext>
            </a:extLst>
          </p:cNvPr>
          <p:cNvSpPr txBox="1"/>
          <p:nvPr/>
        </p:nvSpPr>
        <p:spPr>
          <a:xfrm>
            <a:off x="685800" y="2590800"/>
            <a:ext cx="10896600" cy="3576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AI Improvement: </a:t>
            </a:r>
            <a:r>
              <a:rPr lang="en-IN" sz="2000" dirty="0"/>
              <a:t>Develop more accurate AI models for Indian languages.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Better Translation: </a:t>
            </a:r>
            <a:r>
              <a:rPr lang="en-IN" sz="2000" dirty="0"/>
              <a:t>Improve translation between Tamil, Hindi, Telugu, and English.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Voice Assistants: </a:t>
            </a:r>
            <a:r>
              <a:rPr lang="en-IN" sz="2000" dirty="0"/>
              <a:t>Build smarter voice assistants that understand regional languages.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More Datasets: </a:t>
            </a:r>
            <a:r>
              <a:rPr lang="en-IN" sz="2000" dirty="0"/>
              <a:t>Create more language datasets for better processing.</a:t>
            </a:r>
          </a:p>
          <a:p>
            <a:pPr lvl="0"/>
            <a:endParaRPr lang="en-IN" sz="2000" dirty="0"/>
          </a:p>
          <a:p>
            <a:pPr lvl="0"/>
            <a:r>
              <a:rPr lang="en-IN" sz="2000" b="1" dirty="0"/>
              <a:t>Real-World Applications: </a:t>
            </a:r>
            <a:r>
              <a:rPr lang="en-IN" sz="2000" dirty="0"/>
              <a:t>Use morphological processing in education, healthcare, and communication 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jpg">
            <a:extLst>
              <a:ext uri="{FF2B5EF4-FFF2-40B4-BE49-F238E27FC236}">
                <a16:creationId xmlns:a16="http://schemas.microsoft.com/office/drawing/2014/main" id="{13490340-A5E6-DA52-10E7-D3BB7459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4" y="201116"/>
            <a:ext cx="11876451" cy="10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60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1EA1-60F1-161B-D20F-58C095D01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0A9FF-6157-6466-AA5E-7A76012E1D86}"/>
              </a:ext>
            </a:extLst>
          </p:cNvPr>
          <p:cNvSpPr txBox="1"/>
          <p:nvPr/>
        </p:nvSpPr>
        <p:spPr>
          <a:xfrm>
            <a:off x="3352800" y="1676400"/>
            <a:ext cx="2836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91C68-C7F7-961B-C976-1D1D006CF5B0}"/>
              </a:ext>
            </a:extLst>
          </p:cNvPr>
          <p:cNvSpPr txBox="1"/>
          <p:nvPr/>
        </p:nvSpPr>
        <p:spPr>
          <a:xfrm>
            <a:off x="685800" y="2819400"/>
            <a:ext cx="96476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 err="1"/>
              <a:t>Jurafsky</a:t>
            </a:r>
            <a:r>
              <a:rPr lang="en-IN" dirty="0"/>
              <a:t>, D., and Martin, J. H. Speech and Language Processing.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Bharati, A., Chaitanya, V., and Sangal, R. Natural Language Processing: A </a:t>
            </a:r>
            <a:r>
              <a:rPr lang="en-IN" dirty="0" err="1"/>
              <a:t>Paninian</a:t>
            </a:r>
            <a:r>
              <a:rPr lang="en-IN" dirty="0"/>
              <a:t> Perspective, 1995.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Manning, C. D., and Schütze, H. Foundations of Statistical Natural Language Processing, 1999.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Richard Sproat. Morphology and Computation, 1992.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Research papers on morphological analysis of Tamil, Hindi, and Telugu in Natural Language Processing (NLP).</a:t>
            </a:r>
          </a:p>
        </p:txBody>
      </p:sp>
      <p:pic>
        <p:nvPicPr>
          <p:cNvPr id="5" name="Picture 4" descr="image.jpg">
            <a:extLst>
              <a:ext uri="{FF2B5EF4-FFF2-40B4-BE49-F238E27FC236}">
                <a16:creationId xmlns:a16="http://schemas.microsoft.com/office/drawing/2014/main" id="{B0A9A3EC-B25A-BA46-0C4E-083DCAC98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4" y="153531"/>
            <a:ext cx="11876451" cy="10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8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ank you Images - Free Download on Magnific (formerly Freepik)">
            <a:extLst>
              <a:ext uri="{FF2B5EF4-FFF2-40B4-BE49-F238E27FC236}">
                <a16:creationId xmlns:a16="http://schemas.microsoft.com/office/drawing/2014/main" id="{7EF98457-A37E-F518-6974-A163F0AD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04" y="1216794"/>
            <a:ext cx="6267450" cy="442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590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     Morphological Analysis for Indian                        Languages</vt:lpstr>
      <vt:lpstr>PowerPoint Presentation</vt:lpstr>
      <vt:lpstr>BASIC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Pallavi Reddy</dc:creator>
  <cp:lastModifiedBy>aluruameya2007@gmail.com</cp:lastModifiedBy>
  <cp:revision>2</cp:revision>
  <dcterms:created xsi:type="dcterms:W3CDTF">2026-10-04T18:07:21Z</dcterms:created>
  <dcterms:modified xsi:type="dcterms:W3CDTF">2026-10-20T09:09:42Z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2026-10-04T00:00:00Z</vt:filetime>
  </property>
</Properties>
</file>